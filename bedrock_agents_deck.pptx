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201168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868680"/>
            <a:ext cx="201168" cy="2011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 AGENTIC AI PRACTITIONER BOOTCAMP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Agents Run on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orchestrator, the moving parts, and how to choose between Agent Builder, Strands, and AgentCore.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486400"/>
            <a:ext cx="292608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650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Bedrock Agents deep dive  ·  Intermediate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TravelMind — airline booking-exception agent (running example)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model call to a production agent platform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57400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loop, not a model. Why that distinction explains everything.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2057400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42632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Bedrock's components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42632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orchestrator, action groups, knowledge bases, guardrails, memory — mapped.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538728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3538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orchestrator, step by step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831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each turn of the loop, intuitively.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3264408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3538728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83096" y="3538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42632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a real trace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42632" y="3831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TravelMind's happy path — and the loop that broke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5020056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" y="50200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build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45920" y="5312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vs Strands vs AgentCore — technical differences and steps.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45352" y="4745736"/>
            <a:ext cx="53949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5020056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50200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42632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decision guide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42632" y="5312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which, with complex IBS travel-domain use cases.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is a loop, not a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is stateless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goes in, one output comes out. It has no memory of the last call, no way to act in the world, and no loop of its own.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4114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41148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23160" y="4023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78024" y="40233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4114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43984" y="41148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11680" y="4434840"/>
            <a:ext cx="411480" cy="0"/>
          </a:xfrm>
          <a:prstGeom prst="line">
            <a:avLst/>
          </a:prstGeom>
          <a:noFill/>
          <a:ln w="25400">
            <a:solidFill>
              <a:srgbClr val="92400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2359152" y="4370832"/>
            <a:ext cx="128016" cy="128016"/>
          </a:xfrm>
          <a:prstGeom prst="triangle">
            <a:avLst/>
          </a:prstGeom>
          <a:solidFill>
            <a:srgbClr val="92400E"/>
          </a:solidFill>
          <a:ln/>
        </p:spPr>
      </p:sp>
      <p:sp>
        <p:nvSpPr>
          <p:cNvPr id="16" name="Shape 13"/>
          <p:cNvSpPr/>
          <p:nvPr/>
        </p:nvSpPr>
        <p:spPr>
          <a:xfrm>
            <a:off x="3977640" y="4434840"/>
            <a:ext cx="411480" cy="0"/>
          </a:xfrm>
          <a:prstGeom prst="line">
            <a:avLst/>
          </a:prstGeom>
          <a:noFill/>
          <a:ln w="25400">
            <a:solidFill>
              <a:srgbClr val="92400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4325112" y="4370832"/>
            <a:ext cx="128016" cy="128016"/>
          </a:xfrm>
          <a:prstGeom prst="triangle">
            <a:avLst/>
          </a:prstGeom>
          <a:solidFill>
            <a:srgbClr val="92400E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thinks. It does not do.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is model + tools + loop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629400" y="2971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loop calls the model again and again, runs whatever tools it asks for, feeds the results back, and stops only when the model says “done.”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675120" y="41605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9984" y="416052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46920" y="416052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701784" y="41605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tool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092440" y="4370832"/>
            <a:ext cx="15544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rot="5400000">
            <a:off x="9582912" y="430682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9" name="Shape 25"/>
          <p:cNvSpPr/>
          <p:nvPr/>
        </p:nvSpPr>
        <p:spPr>
          <a:xfrm flipH="1">
            <a:off x="8092440" y="4754880"/>
            <a:ext cx="15544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rot="16200000">
            <a:off x="8028432" y="46908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→ act → observe → repeat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1C1917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Skeptic:  </a:t>
            </a:r>
            <a:pPr indent="0" marL="0"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the LLM isn't the agent?”  Correct. The LLM is the brain. The agent is the brain plus the nervous system that lets it sense and act.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MOVING PARTS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Agents: the component map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663440" y="28346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72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090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63440" y="35478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loop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runs the show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28016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80160" y="169164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96596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214884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picks actions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1728" y="15544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155448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50408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Groups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550408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backed by Lambda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0" y="169164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965960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09828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your data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229600" y="45262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0" y="452628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800600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98280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098280" y="5093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PII policy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681728" y="480060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81728" y="480060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5074920"/>
            <a:ext cx="475488" cy="4754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50408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Session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5550408" y="5367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 recall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1280160" y="45262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1280160" y="452628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4800600"/>
            <a:ext cx="475488" cy="4754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148840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role + Traces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2148840" y="5093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observability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 flipH="1" flipV="1">
            <a:off x="4023360" y="2743200"/>
            <a:ext cx="640080" cy="4572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 flipH="1" flipV="1">
            <a:off x="6035040" y="2606040"/>
            <a:ext cx="45720" cy="2286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 flipV="1">
            <a:off x="7498080" y="2743200"/>
            <a:ext cx="2103120" cy="4572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7498080" y="3840480"/>
            <a:ext cx="2103120" cy="6858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 flipH="1">
            <a:off x="6035040" y="4206240"/>
            <a:ext cx="45720" cy="5943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 flipH="1">
            <a:off x="4023360" y="3840480"/>
            <a:ext cx="640080" cy="68580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InvokeAgent  →  orchestrator coordinates every other part on each turn.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 — the reasoning engine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Nova, Claude, Llama, and others. It reads the assembled prompt and emits a thought plus either a tool to call or a final answer.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Stateless. It remembers nothing between calls — the orchestrator re-sends the full history every turn.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decides; it does not execute. “Call lookup_booking(JX48Q2)” is a request, not an action.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params live here: topK=1 is greedy (one fixed token), so identical inputs give identical outputs.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changes reliability far more than prompt tweaks for multi-step tool use.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32320" y="1874520"/>
            <a:ext cx="4510735" cy="3886200"/>
          </a:xfrm>
          <a:prstGeom prst="roundRect">
            <a:avLst>
              <a:gd name="adj" fmla="val 1647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52360" y="21488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gotcha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2532888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was “blocked,” Nova worked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52360" y="3291840"/>
            <a:ext cx="3870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3.5+ on Bedrock cannot be called by bare model ID. It needs a cross-region inference profile. Pick the us. variant in the model picker: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52360" y="4572000"/>
            <a:ext cx="3870655" cy="777240"/>
          </a:xfrm>
          <a:prstGeom prst="roundRect">
            <a:avLst>
              <a:gd name="adj" fmla="val 8235"/>
            </a:avLst>
          </a:prstGeom>
          <a:solidFill>
            <a:srgbClr val="1C1917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4572000"/>
            <a:ext cx="3596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us.anthropic.claude-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3-5-haiku-...-v1:0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Groups — what the agent can do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hands.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 function backed by a Lambda (or return-of-control to your app). You declare its parameters; Bedrock validates them.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a function schema or OpenAPI spec — name, description, typed parameters.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tool and fills the arguments; the orchestrator invokes the Lambda.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returns as an observation that the model reads on the next turn.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6309360" cy="713232"/>
          </a:xfrm>
          <a:prstGeom prst="roundRect">
            <a:avLst>
              <a:gd name="adj" fmla="val 8974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0292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rule: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524"/>
                </a:solidFill>
              </a:rPr>
              <a:t>every goal needs a terminal action. No confirm_rebooking tool → the agent literally cannot finish.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1874520"/>
            <a:ext cx="4510735" cy="3886200"/>
          </a:xfrm>
          <a:prstGeom prst="roundRect">
            <a:avLst>
              <a:gd name="adj" fmla="val 1647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488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 action group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74320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lookup_booking(pnr)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52360" y="3456432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345643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get_disruption_reason(pnr)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52360" y="4169664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16966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get_rebooking_options(pnr)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4882896"/>
            <a:ext cx="3870655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882896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confirm_rebooking(pnr, flight)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80015" y="4882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missing!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Bases — grounding in your data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memory of facts.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lets the agent answer from your documents without retraining the model.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3200400"/>
            <a:ext cx="18288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rules,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manuals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4600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779776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9"/>
          <p:cNvSpPr/>
          <p:nvPr/>
        </p:nvSpPr>
        <p:spPr>
          <a:xfrm>
            <a:off x="2843784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43784" y="3200400"/>
            <a:ext cx="18288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2935224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 + embed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35224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72584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4937760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8" name="Shape 15"/>
          <p:cNvSpPr/>
          <p:nvPr/>
        </p:nvSpPr>
        <p:spPr>
          <a:xfrm>
            <a:off x="5001768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01768" y="3200400"/>
            <a:ext cx="18288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5093208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93208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Aurora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30568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7095744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4" name="Shape 21"/>
          <p:cNvSpPr/>
          <p:nvPr/>
        </p:nvSpPr>
        <p:spPr>
          <a:xfrm>
            <a:off x="7159752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59752" y="3200400"/>
            <a:ext cx="18288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3"/>
          <p:cNvSpPr/>
          <p:nvPr/>
        </p:nvSpPr>
        <p:spPr>
          <a:xfrm>
            <a:off x="7251192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51192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988552" y="3680460"/>
            <a:ext cx="329184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5400000">
            <a:off x="9253728" y="361645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0" name="Shape 27"/>
          <p:cNvSpPr/>
          <p:nvPr/>
        </p:nvSpPr>
        <p:spPr>
          <a:xfrm>
            <a:off x="9317736" y="32004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317736" y="3200400"/>
            <a:ext cx="18288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29"/>
          <p:cNvSpPr/>
          <p:nvPr/>
        </p:nvSpPr>
        <p:spPr>
          <a:xfrm>
            <a:off x="9409176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answers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409176" y="3675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68680" y="466344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</a:rPr>
              <a:t>the agent cites current, private facts instead of guessing. Update the documents and behaviour updates — no fine-tuning, no redeploy. For IBS: fare rules, baggage policy, and IROPS playbooks become queryable knowledge.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— the safety and policy layer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filter on the door.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screen both the user's input and the model's output, independently of the prompt.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92608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090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filters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hate, violence, and unsafe categories at chosen strengths.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292608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45352" y="292608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565392" y="3090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Denied topics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65392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off-limits subjects in plain language (e.g. legal advice).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4251960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16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redaction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6868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or block emails, phone numbers, passport and card data.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45352" y="425196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45352" y="4251960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7"/>
          <p:cNvSpPr/>
          <p:nvPr/>
        </p:nvSpPr>
        <p:spPr>
          <a:xfrm>
            <a:off x="6565392" y="4416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checks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565392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answers not supported by retrieved knowledge.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1C1917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 angle:  </a:t>
            </a:r>
            <a:pPr indent="0" marL="0"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PII redaction is the easiest path to a PDPA-defensible servicing agent.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Session — what carries over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830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continuity layer.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stateless, so anything that should persist lives here, managed by the orchestrator.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9718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(short-term)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conversation for one task.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Re-sent to the model on every turn — this is the history that ballooned to 11k tokens in the loop.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after idle timeout (idleSessionTTL).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29718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65392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(long-term)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65392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that survives across sessions.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agent recall a returning passenger's context without re-asking.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and a privacy decision — store the minimum that earns its keep.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model + orchestrator-managed history = the “memory” you saw growing turn over turn in the trace.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BEDROCK WRAPS 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prompt stages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can run the model through up to four templated stages. Each is an overridable prompt; orchestration is the only one that loops.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633472"/>
            <a:ext cx="640080" cy="64008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17904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classify the input. Can catch malicious prompts. Optional.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310128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2267712"/>
            <a:ext cx="2578608" cy="2551176"/>
          </a:xfrm>
          <a:prstGeom prst="roundRect">
            <a:avLst>
              <a:gd name="adj" fmla="val 2509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101600" dist="25400" dir="7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523744"/>
            <a:ext cx="640080" cy="64008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25237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11296" y="3291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57016" y="382219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loop: think, call a tool, observe, repeat. The main event.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52744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135624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68896" y="2633472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68896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6792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response gen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82512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retrieved knowledge chunks into a grounded draft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78240" y="3543300"/>
            <a:ext cx="24688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8961120" y="347929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5128" y="2377440"/>
            <a:ext cx="2578608" cy="2331720"/>
          </a:xfrm>
          <a:prstGeom prst="roundRect">
            <a:avLst>
              <a:gd name="adj" fmla="val 2745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94392" y="2633472"/>
            <a:ext cx="640080" cy="64008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9439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62288" y="34015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Post-processing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208008" y="39319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or reformat the final reply. Off by default.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four are configurable via promptOverrideConfiguration. Most teams customise orchestration and leave the rest default.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THE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 manager who can't do the work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 that makes every Bedrock trace readable. Three roles, one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1660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743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loop. Briefs the consultant, sends the intern, decides when the job is done. Does no real work itself.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7276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2743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amnesiac consultant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17136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MODEL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08576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Brilliant, but forgets everything between questions. Says what to do next, or “we're done.”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228600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22892" y="2560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7432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02752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GROUP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394192" y="4251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exactly what it's told (run a query, call an API) and brings the result back.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349240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1C1917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534924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amnesia is the key.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consultant forgets, the PM re-hands them the entire file every single turn. That is why history is re-sent on every model call.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LOOP'S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ReAct: reason, act, observe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orchestration step runs one ReAct cycle. The model's &lt;thinking&gt; block you saw in the trace is the “reason” phase, written out loud.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— the model reasons about the next step (“I have the PNR; look up the booking”).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it requests one tool with arguments.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— the tool result comes back and is added to history.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— the model now sees the observation and reasons again, until it can answer.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21240" y="2606040"/>
            <a:ext cx="541325" cy="127330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0398557" y="381533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8785555" y="4610862"/>
            <a:ext cx="126553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8721547" y="454685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8374075" y="2606040"/>
            <a:ext cx="541325" cy="127330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2" y="254203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51392" y="1993392"/>
            <a:ext cx="1133856" cy="768096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51392" y="1993392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987077" y="3906774"/>
            <a:ext cx="1133856" cy="76809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987077" y="3906774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15707" y="3906774"/>
            <a:ext cx="1133856" cy="76809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15707" y="3906774"/>
            <a:ext cx="1133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0" y="3447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ORCHESTRATOR, STEP BY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full turn of the managed loop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8308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Assemble prompt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tools + history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03320" y="17830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58184" y="178308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Call the model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stateless output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17830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75704" y="178308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Parse output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return?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2240280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639312" y="21762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240280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6656832" y="217627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9646920" y="315468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CFDF3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01784" y="31546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 to 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6920" y="42519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425196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/ error</a:t>
            </a:r>
            <a:endParaRPr lang="en-US" sz="12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fallback message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697480"/>
            <a:ext cx="0" cy="32004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17520"/>
            <a:ext cx="1691640" cy="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3017520"/>
            <a:ext cx="0" cy="137160"/>
          </a:xfrm>
          <a:prstGeom prst="line">
            <a:avLst/>
          </a:prstGeom>
          <a:noFill/>
          <a:ln w="22225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582912" y="3090672"/>
            <a:ext cx="128016" cy="128016"/>
          </a:xfrm>
          <a:prstGeom prst="triangle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8119872" y="2761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8240" y="2697480"/>
            <a:ext cx="0" cy="1984248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4681728"/>
            <a:ext cx="868680" cy="0"/>
          </a:xfrm>
          <a:prstGeom prst="line">
            <a:avLst/>
          </a:prstGeom>
          <a:noFill/>
          <a:ln w="22225">
            <a:solidFill>
              <a:srgbClr val="B9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9582912" y="4617720"/>
            <a:ext cx="128016" cy="128016"/>
          </a:xfrm>
          <a:prstGeom prst="triangle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hit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42519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58184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Run action group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KB / ask user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" y="425196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Append result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history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040880" y="2697480"/>
            <a:ext cx="0" cy="201168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172200" y="4709160"/>
            <a:ext cx="868680" cy="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6108192" y="4645152"/>
            <a:ext cx="128016" cy="128016"/>
          </a:xfrm>
          <a:prstGeom prst="triangl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941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H="1">
            <a:off x="3154680" y="4709160"/>
            <a:ext cx="548640" cy="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6200000">
            <a:off x="3090672" y="4645152"/>
            <a:ext cx="128016" cy="128016"/>
          </a:xfrm>
          <a:prstGeom prst="triangle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 flipV="1">
            <a:off x="1897380" y="2697480"/>
            <a:ext cx="0" cy="155448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833372" y="2633472"/>
            <a:ext cx="128016" cy="128016"/>
          </a:xfrm>
          <a:prstGeom prst="triangle">
            <a:avLst/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turn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97380" y="1691640"/>
            <a:ext cx="0" cy="9144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1842516" y="1728216"/>
            <a:ext cx="109728" cy="109728"/>
          </a:xfrm>
          <a:prstGeom prst="triangle">
            <a:avLst/>
          </a:prstGeom>
          <a:solidFill>
            <a:srgbClr val="78716C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88696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9164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193852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83280" y="6007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3630168" y="595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your code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SAME LOOP, IN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every turn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0824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plus session state arrive.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0824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1901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4032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prompt: instructions, tool defs, full history, query.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36392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3558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model once. It is stateless.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289864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136392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14032" y="33558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emits a thought and either an action or a final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251960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133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4714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reads the output and classifies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5352" y="401421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14032" y="4133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14032" y="44714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action: run the Lambda / KB / ask-user; capture the observation.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978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367528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17320" y="55869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thought + action + observation to the history.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45352" y="512978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5367528"/>
            <a:ext cx="457200" cy="4572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14032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or exit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14032" y="55869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step 2. Exit on final answer, cap, or error.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WALKING A REAL 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TravelMind, happy path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 as alternating roles. The model thinks and asks; the tool answers; the model finally responds. Four tool calls, one clean exit.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signal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emits a final answer with the two options. The orchestrator sees it, stops the loop, and returns.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model calls  ·  4 tool calls  ·  1 final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837944"/>
            <a:ext cx="420624" cy="42062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1968" y="1783080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flight was disrupted”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58568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45059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01968" y="2395728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for the 6-char PNR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2871216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063240"/>
            <a:ext cx="420624" cy="420624"/>
          </a:xfrm>
          <a:prstGeom prst="ellipse">
            <a:avLst/>
          </a:prstGeom>
          <a:solidFill>
            <a:srgbClr val="78716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01968" y="3008376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0083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JX48Q2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3483864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675888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01968" y="3621024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621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 → CANCELLED, AI-302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4096512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428853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01968" y="4233672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2336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get_disruption_reason → heavy fog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5352" y="4709160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4901184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01968" y="4846320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846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get_rebooking_options → AI-318, 6E-552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5321808"/>
            <a:ext cx="0" cy="192024"/>
          </a:xfrm>
          <a:prstGeom prst="line">
            <a:avLst/>
          </a:prstGeom>
          <a:noFill/>
          <a:ln w="15875">
            <a:solidFill>
              <a:srgbClr val="E7E5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551383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01968" y="5458968"/>
            <a:ext cx="5486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54589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here are your options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THE LOOP BREAKS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 you hit: an infinite loop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0" cy="3886200"/>
          </a:xfrm>
          <a:prstGeom prst="roundRect">
            <a:avLst>
              <a:gd name="adj" fmla="val 1647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picks “option-1”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834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063240"/>
            <a:ext cx="32004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182112" y="2999232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2926080" y="3410712"/>
            <a:ext cx="32004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6200000">
            <a:off x="2862072" y="3346704"/>
            <a:ext cx="128016" cy="128016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  × ~50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thought, same call, same result — forever, until the cap.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1C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“Sorry, I am unable to assist you with this request.”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874520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causes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2240280"/>
            <a:ext cx="5745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action. There is no confirm_rebooking tool, so the model falls back to the only tool it has.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(topK=1). Identical input → identical output, so it can never drift out.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97880" y="3611880"/>
            <a:ext cx="5745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3977640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3977640"/>
            <a:ext cx="73152" cy="5120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977640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terminal action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confirm_rebooking(pnr, flight) gives the loop a clean exit.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97880" y="4581144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4581144"/>
            <a:ext cx="73152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581144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instruct a final answer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selection, reply directly — no tool call needed.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97880" y="5184648"/>
            <a:ext cx="5745175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5184648"/>
            <a:ext cx="73152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518464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 + loop guard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Claude/Nova Pro plus a repeated-call circuit breaker.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A BEDROCK 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authored what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has exactly one author. The one rule: the model wrote only rawResponse. Everything else is orchestrator plumbing or your Lambda.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94415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field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19472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05472" y="22402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97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modelInvocationInput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05472" y="269748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it assembled and 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inferenceConfiguration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05472" y="32004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params (topK, temperature)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modelInvocationOutput.rawResponse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05472" y="370332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the model wrote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(surfaced)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05472" y="420624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&lt;thinking&gt; block, pulled out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709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actionGroupInvocationInput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05472" y="470916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dispatch it parsed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4415" cy="50292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212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actionGroupInvocationOutput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5212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Lambda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05472" y="521208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715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finalResponse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5715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05472" y="57150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to the user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WAYS TO BUILD ON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Builder, Strands, AgentCore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different questions. The cleanest way to tell them apart: who owns the loop?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3464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74520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AGENTS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agent service. Configure it; AWS runs the loop.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owns the loop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4256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4296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834640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0136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660136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OPEN-SOURCE SDK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54296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agent in code. The loop runs in your process.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654296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0F766E"/>
          </a:solidFill>
          <a:ln/>
        </p:spPr>
      </p:sp>
      <p:sp>
        <p:nvSpPr>
          <p:cNvPr id="20" name="Text 16"/>
          <p:cNvSpPr/>
          <p:nvPr/>
        </p:nvSpPr>
        <p:spPr>
          <a:xfrm>
            <a:off x="4654296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 owns the loop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19872" y="23317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39912" y="265176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83464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445752" y="2715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9445752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+ SERVICES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439912" y="3749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that hosts any framework's agent.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8439912" y="4846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B45309"/>
          </a:solidFill>
          <a:ln/>
        </p:spPr>
      </p:sp>
      <p:sp>
        <p:nvSpPr>
          <p:cNvPr id="28" name="Text 23"/>
          <p:cNvSpPr/>
          <p:nvPr/>
        </p:nvSpPr>
        <p:spPr>
          <a:xfrm>
            <a:off x="8439912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the loop you bring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(Bedrock Agents)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and declarative.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agent in the console or API; AWS runs the ReAct loop server-side. This is the agent in today's trace.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97864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97864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+ instructions)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49424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2313432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3" name="Shape 10"/>
          <p:cNvSpPr/>
          <p:nvPr/>
        </p:nvSpPr>
        <p:spPr>
          <a:xfrm>
            <a:off x="2359152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08376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008376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32304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action groups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059936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5400000">
            <a:off x="4123944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9" name="Shape 16"/>
          <p:cNvSpPr/>
          <p:nvPr/>
        </p:nvSpPr>
        <p:spPr>
          <a:xfrm>
            <a:off x="4169664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18888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18888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42816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knowledge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870448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5934456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5" name="Shape 22"/>
          <p:cNvSpPr/>
          <p:nvPr/>
        </p:nvSpPr>
        <p:spPr>
          <a:xfrm>
            <a:off x="5980176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29400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2940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53328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guardrails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80960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7744968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1" name="Shape 28"/>
          <p:cNvSpPr/>
          <p:nvPr/>
        </p:nvSpPr>
        <p:spPr>
          <a:xfrm>
            <a:off x="7790688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39912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439912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863840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test,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traces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491472" y="361188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9555480" y="3566160"/>
            <a:ext cx="91440" cy="914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37" name="Shape 34"/>
          <p:cNvSpPr/>
          <p:nvPr/>
        </p:nvSpPr>
        <p:spPr>
          <a:xfrm>
            <a:off x="9601200" y="3154680"/>
            <a:ext cx="170078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250424" y="3264408"/>
            <a:ext cx="402336" cy="402336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10250424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674352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alias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ECFDF3"/>
          </a:solidFill>
          <a:ln w="12700">
            <a:solidFill>
              <a:srgbClr val="C9E9D2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86868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868680" y="5029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task, fast time-to-value, standard RAG + tools, you want AWS to manage everything.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245352" y="4526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EF2F2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565392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6565392" y="5029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loop control unless you use custom orchestration; coupled to Bedrock.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 SDK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and model-driven.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just model + system prompt + tools. The SDK runs a lightweight loop in your code until the model finishes.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5943600" cy="2971800"/>
          </a:xfrm>
          <a:prstGeom prst="roundRect">
            <a:avLst>
              <a:gd name="adj" fmla="val 2154"/>
            </a:avLst>
          </a:prstGeom>
          <a:solidFill>
            <a:srgbClr val="1C1917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9718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lookup_booking(pnr: str) -&gt; dict: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a booking by PNR."""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db.get(pnr)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model="us.anthropic.claude-...",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system_prompt=TRAVELMIND,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tools=[lookup_booking, rebook],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agent("My flight JX48Q2 was cancelled")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12280" y="278892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3154680"/>
            <a:ext cx="4830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strands-agents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 with @tool (docstring → description, type hints → schema)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Agent(model, prompt, tools)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it; the loop runs model + tools until a final answer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you run 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12280" y="4754880"/>
            <a:ext cx="4830775" cy="1005840"/>
          </a:xfrm>
          <a:prstGeom prst="roundRect">
            <a:avLst>
              <a:gd name="adj" fmla="val 6364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4864608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5166360"/>
            <a:ext cx="4282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control, custom or multi-agent logic, provider portability (Bedrock, Anthropic, Llama, Ollama), unit-testable behaviour.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 AgentCore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783080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Framework-agnostic production runtime.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loop — a platform. Build the agent in any framework (Strands, LangGraph, custom), then run and operate it at scale.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5880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host, session isolation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28416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08152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5656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105656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08192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81528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85432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885432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JWT, secure access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887968" y="2834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308152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65208" y="2980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9665208" y="3346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Lambdas → MCP tools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224528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325880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headless browsing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328416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4224528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105656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4105656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108192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224528"/>
            <a:ext cx="457200" cy="4572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85432" y="41239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6885432" y="44897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CloudWatch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887968" y="3977640"/>
            <a:ext cx="2615184" cy="96012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905256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for it when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905256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many systems, framework freedom.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steps:  build in any framework  →  wrap with the AgentCore SDK  →  deploy to Runtime  →  add Memory / Gateway / Identity / Observability as needed.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tool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1783080"/>
            <a:ext cx="2981858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79338" y="1783080"/>
            <a:ext cx="29818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679338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61197" y="1783080"/>
            <a:ext cx="2981858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661197" y="178308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07208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service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89066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agent SDK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0925" y="228600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runtime + services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loop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07208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server-side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89066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0925" y="285292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any framework's loop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07208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Bedrock-managed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89066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you run Python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0925" y="3419856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(serverless)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86784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07208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89066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(Bedrock, Anthropic, Llama)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0925" y="3986784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(set by your framework)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553712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5537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for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07208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89066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0925" y="4553712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operations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94415" cy="566928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20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807208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RAG + tool tasks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89066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multi-agent logic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70925" y="5120640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production at scale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87568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687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807208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(Bedrock)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789066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70925" y="5687568"/>
            <a:ext cx="2762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(AWS runtime, framework-free)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697480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79338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61197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43055" y="1783080"/>
            <a:ext cx="0" cy="447141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EITHER / 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three fit together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they stack. A common production pattern: write the agent logic in Strands, run it on AgentCore, and call Bedrock models with Bedrock Guardrails and Knowledge Bases underneath.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852160" cy="2468880"/>
          </a:xfrm>
          <a:prstGeom prst="roundRect">
            <a:avLst>
              <a:gd name="adj" fmla="val 2593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29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is the shortcut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collapses all of these layers into one managed service. Perfect for bounded tasks; you trade the layer-by-layer control that the Strands + AgentCore stack gives you.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91440" cy="841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47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application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66560" y="23042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channel that calls the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9002268" y="2670048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816352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BF1E6"/>
          </a:solidFill>
          <a:ln w="12700">
            <a:solidFill>
              <a:srgbClr val="F0D9BD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816352"/>
            <a:ext cx="91440" cy="8412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9352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66560" y="3291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memory · identity · gateway · observability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9002268" y="3657600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803904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0FDFA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803904"/>
            <a:ext cx="91440" cy="8412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9227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/ LangGraph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66560" y="42793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logic: the loop, tools, reasoning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9002268" y="4645152"/>
            <a:ext cx="146304" cy="146304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791456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791456"/>
            <a:ext cx="91440" cy="841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910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models + Guardrails + KB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66560" y="52669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safety, grounding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guide &amp; complex IBS use cases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by the question you're answering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13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task, ship fast?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Agent Builder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355848"/>
            <a:ext cx="82296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logic, portability?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9044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Strands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62856"/>
            <a:ext cx="82296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727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security, any framework?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1114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AgentCore (often under Strands)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1737360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 travel-domain scenarios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66360" y="2148840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42316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0" y="2258568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IROPS re-accommodation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943600" y="2532888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Multi-passenger disruption replanning across flights, hotels, crew limits.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2807208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Strands on AgentCore (multi-agent, long-running)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66360" y="3227832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502152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0" y="3337560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cargo capacity exceptions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943600" y="3611880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 shipments, optimise ULD/space via calls to capacity systems.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943600" y="3886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groups + Knowledge Bases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166360" y="4306824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581144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43600" y="4416552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&amp; roster disruption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5943600" y="4690872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Constraint-heavy fixes calling legacy rostering APIs.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43600" y="4965192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Gateway exposes APIs as tools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166360" y="5385816"/>
            <a:ext cx="6476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660136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943600" y="5495544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 servicing (PDPA)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5943600" y="5769864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servicing and fare rules with PII redaction and secure access.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943600" y="6044184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Builder + Guardrails + AgentCore Identity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  ·  Day 3  ·  Amazon Bedrock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201168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868680"/>
            <a:ext cx="201168" cy="2011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thinks; the orchestrator loops.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confuse the brain with the nervous system that drives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410712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goal needs a terminal action.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the agent literally cannot finish — it loops to the cap.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 is a faithful dispatcher.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rescue you from a bad design. No dedup, no judgement of its own.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37176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Speed, control, scale.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for speed, Strands for control, AgentCore for scale. They compose.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19050" dir="7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596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550408"/>
            <a:ext cx="104086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trace.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authored only rawResponse. Everything else is plumbing or your code.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 Agentic AI Practitioner Bootcamp · Day 3 · Amazon Bedrock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Agents Run on Amazon Bedrock</dc:title>
  <dc:subject>PptxGenJS Presentation</dc:subject>
  <dc:creator>Akash Das</dc:creator>
  <cp:lastModifiedBy>Akash Das</cp:lastModifiedBy>
  <cp:revision>1</cp:revision>
  <dcterms:created xsi:type="dcterms:W3CDTF">2026-06-02T07:13:40Z</dcterms:created>
  <dcterms:modified xsi:type="dcterms:W3CDTF">2026-06-02T07:13:40Z</dcterms:modified>
</cp:coreProperties>
</file>